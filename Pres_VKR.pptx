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Open Sans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Light-bold.fntdata"/><Relationship Id="rId11" Type="http://schemas.openxmlformats.org/officeDocument/2006/relationships/slide" Target="slides/slide6.xml"/><Relationship Id="rId22" Type="http://schemas.openxmlformats.org/officeDocument/2006/relationships/font" Target="fonts/OpenSansLight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Ligh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Light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11c15647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g3e11c15647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11c1564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e11c1564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g3e11c1564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11c15647e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e11c15647e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3e11c15647e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11c15647e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e11c15647e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g3e11c15647e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11c15647e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e11c15647e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3e11c15647e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11c15647e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3e11c15647e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11c15647e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e11c15647e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11c15647e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e11c15647e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11c15647e_0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e11c15647e_0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11c15647e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e11c15647e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11c15647e_0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e11c15647e_0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11c15647e_0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e11c15647e_0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11c15647e_0_1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e11c15647e_0_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3.png"/><Relationship Id="rId7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596019" y="781166"/>
            <a:ext cx="59520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Государственное бюджетное профессиональное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29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образовательное учреждение города Москвы ​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29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«Колледж малого бизнеса № 4»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420737" y="2264168"/>
            <a:ext cx="84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2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ru" sz="29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669510" y="1630463"/>
            <a:ext cx="3804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3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выпускная</a:t>
            </a: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 квалификационная </a:t>
            </a:r>
            <a:r>
              <a:rPr b="0" i="0" lang="ru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работа на тему:</a:t>
            </a:r>
            <a:br>
              <a:rPr b="0" i="0" lang="ru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596038" y="1965469"/>
            <a:ext cx="59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TUI-клиента для мониторинга и анализа состояния серверного оборудования</a:t>
            </a:r>
            <a:r>
              <a:rPr lang="ru" sz="1100">
                <a:solidFill>
                  <a:schemeClr val="dk1"/>
                </a:solidFill>
              </a:rPr>
              <a:t> </a:t>
            </a: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813825" y="3148194"/>
            <a:ext cx="3892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Работу выполнил </a:t>
            </a: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Костиков Алексей Викторович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111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 группы ИПО-33.22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lnSpc>
                <a:spcPct val="111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Руководитель Дрыгваль Валерия Станиславовна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lnSpc>
                <a:spcPct val="111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954895" y="4803435"/>
            <a:ext cx="123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Москва 2025​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:\УП.03\презентация\thumbnail_Outlook-1ji3zkw0.png" id="60" name="Google Shape;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3792" y="3770"/>
            <a:ext cx="1356416" cy="861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96429"/>
              <a:buFont typeface="Trebuchet MS"/>
              <a:buNone/>
            </a:pPr>
            <a:r>
              <a:rPr b="1" lang="ru"/>
              <a:t>Цель работы: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0714"/>
              <a:buNone/>
            </a:pPr>
            <a:r>
              <a:t/>
            </a:r>
            <a:endParaRPr b="1"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38" y="1152469"/>
            <a:ext cx="4046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</a:t>
            </a:r>
            <a:r>
              <a:rPr lang="ru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азработка TUI-клиента для мониторинга и анализа состояния серверного оборудования</a:t>
            </a:r>
            <a:r>
              <a:rPr lang="ru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который будет включать в себя модули для мониторинга в прямом эфире, анализа данных, экспорта и веб-мониторинга.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процессе работы будет проведен анализ существующих решений, а также разработана архитектура системы и ее основные компоненты.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just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" name="Google Shape;68;p14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425" y="641854"/>
            <a:ext cx="2521450" cy="351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84788" y="262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390"/>
              <a:buFont typeface="Trebuchet MS"/>
              <a:buNone/>
            </a:pPr>
            <a:r>
              <a:rPr b="1" lang="ru"/>
              <a:t>Задачи дипломной работы:</a:t>
            </a:r>
            <a:endParaRPr b="1"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0" y="1060593"/>
            <a:ext cx="8520600" cy="41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Хранение данных — система должна обеспечивать локальное хранение данных </a:t>
            </a:r>
            <a:endParaRPr sz="1600">
              <a:solidFill>
                <a:schemeClr val="dk1"/>
              </a:solidFill>
            </a:endParaRPr>
          </a:p>
          <a:p>
            <a:pPr indent="-2667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Пользовательский интерфейс — система должна предоставлять понятный интерфейс используя терминал </a:t>
            </a:r>
            <a:endParaRPr sz="1600">
              <a:solidFill>
                <a:schemeClr val="dk1"/>
              </a:solidFill>
            </a:endParaRPr>
          </a:p>
          <a:p>
            <a:pPr indent="-2667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Мониторинг производительности — система должна включать инструменты для мониторинга производительности</a:t>
            </a:r>
            <a:endParaRPr sz="1600">
              <a:solidFill>
                <a:schemeClr val="dk1"/>
              </a:solidFill>
            </a:endParaRPr>
          </a:p>
          <a:p>
            <a:pPr indent="-2667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Провести тестирование системы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24491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0714"/>
              <a:buNone/>
            </a:pPr>
            <a:r>
              <a:rPr lang="ru"/>
              <a:t>Актуальность темы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541969" y="817538"/>
            <a:ext cx="5375400" cy="3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SzPts val="800"/>
              <a:buNone/>
            </a:pP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небольших проектах и часто отсутствует необходимость разворачивать сложные платформы уровня Prometheus, Zabbix или Grafana. Однако администратору всё равно требуется видеть текущую нагрузку.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SzPts val="800"/>
              <a:buNone/>
            </a:pP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быстрый анализ состояния без </a:t>
            </a: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развертывания</a:t>
            </a: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внешних сервисов, с соответствующими подсказками по системе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-Эффективный экспорт для </a:t>
            </a: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отдельного</a:t>
            </a: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управления</a:t>
            </a: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аналитикой данных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342900" lvl="0" marL="0" rtl="0" algn="l">
              <a:lnSpc>
                <a:spcPct val="115000"/>
              </a:lnSpc>
              <a:spcBef>
                <a:spcPts val="9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3" name="Google Shape;83;p16" title="pngwing.c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88" y="1073888"/>
            <a:ext cx="3313369" cy="326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/>
        </p:nvSpPr>
        <p:spPr>
          <a:xfrm>
            <a:off x="2737220" y="185175"/>
            <a:ext cx="31407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ru" sz="2500" u="none" cap="none" strike="noStrike">
                <a:solidFill>
                  <a:srgbClr val="000000"/>
                </a:solidFill>
              </a:rPr>
              <a:t>Выбор технологий</a:t>
            </a:r>
            <a:endParaRPr i="0" sz="1100" u="none" cap="none" strike="noStrike">
              <a:solidFill>
                <a:srgbClr val="000000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617269" y="905756"/>
            <a:ext cx="8082900" cy="2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</a:rPr>
              <a:t>Инструменты разработки:</a:t>
            </a:r>
            <a:endParaRPr b="1" i="0" sz="1500" u="none" cap="none" strike="noStrike">
              <a:solidFill>
                <a:schemeClr val="dk1"/>
              </a:solidFill>
            </a:endParaRPr>
          </a:p>
          <a:p>
            <a:pPr indent="-196850" lvl="1" marL="55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i="0" lang="ru" sz="1500" u="none" cap="none" strike="noStrike">
                <a:solidFill>
                  <a:schemeClr val="dk1"/>
                </a:solidFill>
              </a:rPr>
              <a:t>Visual Studio Code(VSCode) – </a:t>
            </a:r>
            <a:r>
              <a:rPr lang="ru" sz="1500">
                <a:solidFill>
                  <a:schemeClr val="dk1"/>
                </a:solidFill>
              </a:rPr>
              <a:t>редактор кода</a:t>
            </a:r>
            <a:r>
              <a:rPr i="0" lang="ru" sz="1500" u="none" cap="none" strike="noStrike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196850" lvl="1" marL="55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ru" sz="1500">
                <a:solidFill>
                  <a:schemeClr val="dk1"/>
                </a:solidFill>
              </a:rPr>
              <a:t>SQLite</a:t>
            </a:r>
            <a:r>
              <a:rPr i="0" lang="ru" sz="1500" u="none" cap="none" strike="noStrike">
                <a:solidFill>
                  <a:schemeClr val="dk1"/>
                </a:solidFill>
              </a:rPr>
              <a:t>  для хранения и обработки данных.</a:t>
            </a:r>
            <a:endParaRPr i="0" sz="15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</a:rPr>
              <a:t>Языки и технологии:</a:t>
            </a:r>
            <a:endParaRPr b="1" i="0" sz="1500" u="none" cap="none" strike="noStrike">
              <a:solidFill>
                <a:schemeClr val="dk1"/>
              </a:solidFill>
            </a:endParaRPr>
          </a:p>
          <a:p>
            <a:pPr indent="-196850" lvl="1" marL="55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ru" sz="1500">
                <a:solidFill>
                  <a:schemeClr val="dk1"/>
                </a:solidFill>
              </a:rPr>
              <a:t>python </a:t>
            </a:r>
            <a:r>
              <a:rPr i="0" lang="ru" sz="1500" u="none" cap="none" strike="noStrike">
                <a:solidFill>
                  <a:schemeClr val="dk1"/>
                </a:solidFill>
              </a:rPr>
              <a:t>– основной язык программирования.</a:t>
            </a:r>
            <a:endParaRPr i="0" sz="1500" u="none" cap="none" strike="noStrike">
              <a:solidFill>
                <a:schemeClr val="dk1"/>
              </a:solidFill>
            </a:endParaRPr>
          </a:p>
          <a:p>
            <a:pPr indent="-196850" lvl="1" marL="55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ru" sz="1500">
                <a:solidFill>
                  <a:schemeClr val="dk1"/>
                </a:solidFill>
              </a:rPr>
              <a:t>HT</a:t>
            </a:r>
            <a:r>
              <a:rPr i="0" lang="ru" sz="1500" u="none" cap="none" strike="noStrike">
                <a:solidFill>
                  <a:schemeClr val="dk1"/>
                </a:solidFill>
              </a:rPr>
              <a:t>ML – для создания </a:t>
            </a:r>
            <a:r>
              <a:rPr lang="ru" sz="1500">
                <a:solidFill>
                  <a:schemeClr val="dk1"/>
                </a:solidFill>
              </a:rPr>
              <a:t>формата экспорта</a:t>
            </a:r>
            <a:r>
              <a:rPr i="0" lang="ru" sz="1500" u="none" cap="none" strike="noStrike">
                <a:solidFill>
                  <a:schemeClr val="dk1"/>
                </a:solidFill>
              </a:rPr>
              <a:t>.</a:t>
            </a:r>
            <a:endParaRPr i="0" sz="1500" u="none" cap="none" strike="noStrike">
              <a:solidFill>
                <a:schemeClr val="dk1"/>
              </a:solidFill>
            </a:endParaRPr>
          </a:p>
          <a:p>
            <a:pPr indent="-196850" lvl="1" marL="55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•"/>
            </a:pPr>
            <a:r>
              <a:rPr lang="ru" sz="1500">
                <a:solidFill>
                  <a:schemeClr val="dk1"/>
                </a:solidFill>
              </a:rPr>
              <a:t>Csst -  формальный язык описания внешнего textual </a:t>
            </a:r>
            <a:endParaRPr sz="1500">
              <a:solidFill>
                <a:schemeClr val="dk1"/>
              </a:solidFill>
            </a:endParaRPr>
          </a:p>
          <a:p>
            <a:pPr indent="-196850" lvl="1" marL="55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ru" sz="1500">
                <a:solidFill>
                  <a:schemeClr val="dk1"/>
                </a:solidFill>
              </a:rPr>
              <a:t>Sql - язык программирования, который используется для работы с базами данных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91" name="Google Shape;91;p17" title="pngwing.co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837" y="3326500"/>
            <a:ext cx="1086909" cy="1067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title="pngwing.com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9106" y="3383725"/>
            <a:ext cx="977135" cy="977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 title="pngwing.com (5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0925" y="3340415"/>
            <a:ext cx="693000" cy="977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SQLite370.sv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38515" y="3326501"/>
            <a:ext cx="2124001" cy="1004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Python-logo-notext.svg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92088" y="3371575"/>
            <a:ext cx="977150" cy="97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0714"/>
              <a:buNone/>
            </a:pPr>
            <a:r>
              <a:rPr lang="ru"/>
              <a:t>Архитектура жк-системы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0" y="1152475"/>
            <a:ext cx="378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794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Пользовательский интерфейс: textual (tui), html</a:t>
            </a:r>
            <a:endParaRPr/>
          </a:p>
          <a:p>
            <a:pPr indent="-2794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База данных: sqlite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экспорт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аналитика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0075" y="1025975"/>
            <a:ext cx="4434200" cy="31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0714"/>
              <a:buNone/>
            </a:pPr>
            <a:r>
              <a:rPr lang="ru"/>
              <a:t>База данных</a:t>
            </a:r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154520" y="1432560"/>
            <a:ext cx="34575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 функции базы данных: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Хранение данных</a:t>
            </a: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 о метриках</a:t>
            </a:r>
            <a:r>
              <a:rPr b="0" i="0" lang="ru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Хранение данных о диске.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Хранение данных о затратных процессах.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Хранение данных о конфигурации.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0124" y="766111"/>
            <a:ext cx="2400050" cy="27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0174" y="2235000"/>
            <a:ext cx="3521550" cy="137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0175" y="766095"/>
            <a:ext cx="3604900" cy="14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19775" y="3608002"/>
            <a:ext cx="2629975" cy="7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0714"/>
              <a:buNone/>
            </a:pPr>
            <a:r>
              <a:rPr lang="ru"/>
              <a:t>Тестирование </a:t>
            </a:r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7000" y="962200"/>
            <a:ext cx="4970000" cy="236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6998" y="3327898"/>
            <a:ext cx="4970000" cy="174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0714"/>
              <a:buNone/>
            </a:pPr>
            <a:r>
              <a:rPr lang="ru"/>
              <a:t>Тестирование </a:t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775" y="1348924"/>
            <a:ext cx="4198150" cy="3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775" y="1720500"/>
            <a:ext cx="4198149" cy="23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1525" y="1348925"/>
            <a:ext cx="3521500" cy="19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91525" y="1546925"/>
            <a:ext cx="4062925" cy="2503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0714"/>
              <a:buNone/>
            </a:pPr>
            <a:r>
              <a:rPr lang="ru"/>
              <a:t>Тестирование </a:t>
            </a:r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18668"/>
            <a:ext cx="8359334" cy="38028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22"/>
          <p:cNvCxnSpPr/>
          <p:nvPr/>
        </p:nvCxnSpPr>
        <p:spPr>
          <a:xfrm rot="10800000">
            <a:off x="1368281" y="1399519"/>
            <a:ext cx="485100" cy="1056600"/>
          </a:xfrm>
          <a:prstGeom prst="straightConnector1">
            <a:avLst/>
          </a:prstGeom>
          <a:noFill/>
          <a:ln cap="flat" cmpd="sng" w="857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0714"/>
              <a:buNone/>
            </a:pPr>
            <a:r>
              <a:rPr lang="ru"/>
              <a:t>Тестирование </a:t>
            </a:r>
            <a:endParaRPr/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5769"/>
            <a:ext cx="8839200" cy="1183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99260"/>
            <a:ext cx="70580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613610"/>
            <a:ext cx="4171950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0714"/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233775" y="864356"/>
            <a:ext cx="6390600" cy="25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0"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Достигнуто в </a:t>
            </a:r>
            <a:r>
              <a:rPr b="1"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выпускной</a:t>
            </a:r>
            <a:r>
              <a:rPr b="1"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квалификационной </a:t>
            </a:r>
            <a:r>
              <a:rPr b="1" i="0"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работе:</a:t>
            </a:r>
            <a:endParaRPr i="0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i="0"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Разработана система </a:t>
            </a: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TUI-клиента для мониторинга и анализа состояния серверного оборудования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</a:t>
            </a:r>
            <a:r>
              <a:rPr b="1" i="0"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азработано:</a:t>
            </a:r>
            <a:endParaRPr i="0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 клиент с </a:t>
            </a:r>
            <a:r>
              <a:rPr i="0"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интерфейсом на</a:t>
            </a: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textual csst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3429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Аналитика данных, состояние сервера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3429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i="0"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База данных </a:t>
            </a: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SQLite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628650" y="207466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Trebuchet MS"/>
              <a:buNone/>
            </a:pPr>
            <a:r>
              <a:rPr lang="ru" sz="4500"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